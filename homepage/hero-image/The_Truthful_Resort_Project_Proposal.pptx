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Proposal: The Truthful Resort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purpose-driven, regenerative luxury resort designed to redefine travel experiences in 2026.</a:t>
            </a:r>
          </a:p>
          <a:p/>
          <a:p>
            <a:r>
              <a:t>Presented by: Mr. Williams Ebenezer</a:t>
            </a:r>
          </a:p>
          <a:p>
            <a:r>
              <a:t>Role: Client, Sponsor, and Project 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Shift from standard vacations to purpose-driven experiences</a:t>
            </a:r>
          </a:p>
          <a:p>
            <a:r>
              <a:t>• Targeting 'Secondary Destinations' with five-star infrastructure</a:t>
            </a:r>
          </a:p>
          <a:p>
            <a:r>
              <a:t>• Solving over-tourism with privacy, exclusivity, and authenticity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Offer high-end alternative travel experiences</a:t>
            </a:r>
          </a:p>
          <a:p>
            <a:r>
              <a:t>• Create a seamless, personalized guest journey</a:t>
            </a:r>
          </a:p>
          <a:p>
            <a:r>
              <a:t>• Integrate regenerative landscapes into architecture</a:t>
            </a:r>
          </a:p>
          <a:p>
            <a:r>
              <a:t>• Develop diversified revenue beyond room 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Smart guest experience with AI personalization</a:t>
            </a:r>
          </a:p>
          <a:p>
            <a:r>
              <a:t>• Regenerative gardens and natural buffers</a:t>
            </a:r>
          </a:p>
          <a:p>
            <a:r>
              <a:t>• Revenue streams: wellness, events, retail</a:t>
            </a:r>
          </a:p>
          <a:p>
            <a:r>
              <a:t>• High brand loyalty and repeat bookings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Phases &amp;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Strategy &amp; Permits (6–9 months)</a:t>
            </a:r>
          </a:p>
          <a:p>
            <a:r>
              <a:t>Phase 2: Utilities &amp; Earthworks (4–6 months)</a:t>
            </a:r>
          </a:p>
          <a:p>
            <a:r>
              <a:t>Phase 3: Construction, Interiors &amp; Tech (12–18 months)</a:t>
            </a:r>
          </a:p>
          <a:p>
            <a:r>
              <a:t>Phase 4: Interiors &amp; Suite Setup (4–5 months)</a:t>
            </a:r>
          </a:p>
          <a:p>
            <a:r>
              <a:t>Phase 5: Launch (3 months)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Permits &amp; Compliance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Registrar of Companies: GHS 1,500–3,500</a:t>
            </a:r>
          </a:p>
          <a:p>
            <a:r>
              <a:t>Lands Commission: 1% of land value + GHS 500–1,000</a:t>
            </a:r>
          </a:p>
          <a:p>
            <a:r>
              <a:t>EPA EIA Permit: GHS 30,000–70,000</a:t>
            </a:r>
          </a:p>
          <a:p>
            <a:r>
              <a:t>Ghana Tourism Authority: GHS 2,500–5,000</a:t>
            </a:r>
          </a:p>
          <a:p>
            <a:r>
              <a:t>Municipal Permit: GHS 1,500–6,000</a:t>
            </a:r>
          </a:p>
          <a:p>
            <a:r>
              <a:t>Fire &amp; Standards: GHS 1,000–3,000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Utilities &amp; Earthworks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Earthmoving &amp; Roads: GHS 120,000–250,000</a:t>
            </a:r>
          </a:p>
          <a:p>
            <a:r>
              <a:t>Water Systems: GHS 60,000–110,000</a:t>
            </a:r>
          </a:p>
          <a:p>
            <a:r>
              <a:t>Power (Solar + Generator): GHS 250,000–500,000</a:t>
            </a:r>
          </a:p>
          <a:p>
            <a:r>
              <a:t>Sanitation: GHS 70,000–150,000</a:t>
            </a:r>
          </a:p>
          <a:p>
            <a:r>
              <a:t>Total Estimate: GHS 500,000–1,010,000+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Construction Cost Grades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Standard/Mid-Range: GHS 5,500–8,500 per m²</a:t>
            </a:r>
          </a:p>
          <a:p>
            <a:r>
              <a:t>Luxury Grade: GHS 9,500–15,000+ per m²</a:t>
            </a:r>
          </a:p>
          <a:p>
            <a:r>
              <a:t>Equivalent USD: $350–$1,000+ per m²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4: Suite Interior Cost (Per Suite)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Furniture &amp; Decor: GHS 25,000–60,000+</a:t>
            </a:r>
          </a:p>
          <a:p>
            <a:r>
              <a:t>Tech &amp; Smart Systems: GHS 10,000–25,000</a:t>
            </a:r>
          </a:p>
          <a:p>
            <a:r>
              <a:t>Sanitary &amp; Bath: GHS 8,000–20,000</a:t>
            </a:r>
          </a:p>
          <a:p>
            <a:r>
              <a:t>Total Per Suite: GHS 43,000–105,000+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5: Launch Budget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Marketing &amp; PR: GHS 100,000–250,000</a:t>
            </a:r>
          </a:p>
          <a:p>
            <a:r>
              <a:t>Staffing &amp; Training: GHS 200,000–450,000</a:t>
            </a:r>
          </a:p>
          <a:p>
            <a:r>
              <a:t>Grand Opening: GHS 80,000–200,000</a:t>
            </a:r>
          </a:p>
          <a:p>
            <a:r>
              <a:t>Licenses: GHS 15,000–35,000</a:t>
            </a:r>
          </a:p>
          <a:p>
            <a:r>
              <a:t>Working Capital: GHS 400,000–800,000</a:t>
            </a:r>
          </a:p>
          <a:p>
            <a:r>
              <a:t>Total: GHS 795,000–1,735,000+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Client: The Truthful Resort</a:t>
            </a:r>
          </a:p>
          <a:p>
            <a:r>
              <a:t>Sponsor: Mr. Williams Ebenezer</a:t>
            </a:r>
          </a:p>
          <a:p>
            <a:r>
              <a:t>Project Manager: Mr. Williams Ebenezer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Evaluation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Milestone audits after each phase</a:t>
            </a:r>
          </a:p>
          <a:p>
            <a:r>
              <a:t>• Monthly budget variance analysis (&gt;10% triggers review)</a:t>
            </a:r>
          </a:p>
          <a:p>
            <a:r>
              <a:t>• Compliance checkpoints with GTA &amp; EPA</a:t>
            </a:r>
          </a:p>
          <a:p>
            <a:r>
              <a:t>• Soft launch stress test with test guests</a:t>
            </a:r>
          </a:p>
          <a:p>
            <a:r>
              <a:t>• Post-Occupancy Evaluation after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ADR Target: $278+ (GHS 4,200)</a:t>
            </a:r>
          </a:p>
          <a:p>
            <a:r>
              <a:t>RevPAR: $139 (GHS 2,100)</a:t>
            </a:r>
          </a:p>
          <a:p>
            <a:r>
              <a:t>GOPPAR Margin: 35%–50%</a:t>
            </a:r>
          </a:p>
          <a:p>
            <a:r>
              <a:t>Direct Booking Rate: &gt;18%</a:t>
            </a:r>
          </a:p>
          <a:p>
            <a:r>
              <a:t>Solar Consumption: &gt;70%</a:t>
            </a:r>
          </a:p>
          <a:p>
            <a:r>
              <a:t>Landfill Diversion: 90%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Guest Experience &amp; Sustainability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 Promoter Score: 75+</a:t>
            </a:r>
          </a:p>
          <a:p>
            <a:r>
              <a:t>AI Preference Accuracy: 90%</a:t>
            </a:r>
          </a:p>
          <a:p>
            <a:r>
              <a:t>Average Stay: 4.5 nights</a:t>
            </a:r>
          </a:p>
          <a:p>
            <a:r>
              <a:t>Luxury Booking Ratio: 58%</a:t>
            </a:r>
          </a:p>
          <a:p>
            <a:r>
              <a:t>Local Procurement: 80%</a:t>
            </a:r>
          </a:p>
          <a:p>
            <a:r>
              <a:t>Water Reduction: 5% yearly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Weekly: Review ADR &amp; occupancy</a:t>
            </a:r>
          </a:p>
          <a:p>
            <a:r>
              <a:t>Monthly: Utility and labor cost review (&lt;25% revenue)</a:t>
            </a:r>
          </a:p>
          <a:p>
            <a:r>
              <a:t>Quarterly: Sustainability audit</a:t>
            </a:r>
          </a:p>
          <a:p>
            <a:r>
              <a:t>Annually: Strategic investor review</a:t>
            </a:r>
          </a:p>
          <a:p>
            <a:r>
              <a:t>Goal: Net-Positive destination by Year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Approval &amp; Signatures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Mr. Williams Ebenezer – Client</a:t>
            </a:r>
          </a:p>
          <a:p>
            <a:r>
              <a:t>The Truthful Resort – Organization</a:t>
            </a:r>
          </a:p>
          <a:p>
            <a:r>
              <a:t>Mr. Williams Ebenezer – Sponsor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